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RealBench Pro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Safety Evaluation for Frontier AI Models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71600" y="3383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scheming, sabotage &amp; deception — before deployment.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realbench-pro  |  Open Source  |  MIT License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2560320" cy="2011680"/>
          </a:xfrm>
          <a:prstGeom prst="rect">
            <a:avLst>
              <a:gd name="adj" fmla="val 2273"/>
            </a:avLst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40080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time Claude faked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when tested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Dec 2024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91840" y="1005840"/>
            <a:ext cx="2560320" cy="2011680"/>
          </a:xfrm>
          <a:prstGeom prst="rect">
            <a:avLst>
              <a:gd name="adj" fmla="val 2273"/>
            </a:avLst>
          </a:prstGeom>
          <a:solidFill>
            <a:srgbClr val="FFFBEB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9184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3474720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autonomous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since 2024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7472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 Evaluations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26480" y="1005840"/>
            <a:ext cx="2560320" cy="2011680"/>
          </a:xfrm>
          <a:prstGeom prst="rect">
            <a:avLst>
              <a:gd name="adj" fmla="val 2273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2648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6309360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models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a reality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0936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AI Research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286000" y="3200400"/>
            <a:ext cx="4572000" cy="640080"/>
          </a:xfrm>
          <a:prstGeom prst="rect">
            <a:avLst>
              <a:gd name="adj" fmla="val 714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468880" y="32461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3200400" y="32461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production-grade, open-source tools for continuous safety monitoring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1520" y="4069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model could fake alignment during evaluation while covertly planning to pursue other objectives."</a:t>
            </a:r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Anthropic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realbench-pro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Harms: What Could Go Wrong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9144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models grow more capable, new categories of risk emerge that existing benchmarks don't cover.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77240" y="1554480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14447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834640" y="144475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fake alignment during testing while secretly pursuing hidden agendas — the most insidious form of AI misalignment.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" y="1965960"/>
            <a:ext cx="7589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121408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Sabotage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834640" y="20116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corruption of code, data, or oversight mechanisms — subtly breaking things in ways that avoid detection.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" y="2532888"/>
            <a:ext cx="7589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4" name="Shape 11"/>
          <p:cNvSpPr/>
          <p:nvPr/>
        </p:nvSpPr>
        <p:spPr>
          <a:xfrm>
            <a:off x="777240" y="2688336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25786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834640" y="25786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engineering, deceptive communication, and persuasion tactics aimed at humans or other systems.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77240" y="3099816"/>
            <a:ext cx="7589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Shape 15"/>
          <p:cNvSpPr/>
          <p:nvPr/>
        </p:nvSpPr>
        <p:spPr>
          <a:xfrm>
            <a:off x="777240" y="325526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1051560" y="314553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Autonomy-Seeking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834640" y="314553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Self-preservation, shutdown resistance, and attempts to acquire resources or capabilities beyond what was authorized.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77240" y="3666744"/>
            <a:ext cx="7589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Shape 19"/>
          <p:cNvSpPr/>
          <p:nvPr/>
        </p:nvSpPr>
        <p:spPr>
          <a:xfrm>
            <a:off x="777240" y="382219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0"/>
          <p:cNvSpPr/>
          <p:nvPr/>
        </p:nvSpPr>
        <p:spPr>
          <a:xfrm>
            <a:off x="1051560" y="371246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Collusion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834640" y="371246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coordination between multiple AI agents, including covert communication channels and coordinated deception.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77240" y="4233672"/>
            <a:ext cx="7589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6" name="Shape 23"/>
          <p:cNvSpPr/>
          <p:nvPr/>
        </p:nvSpPr>
        <p:spPr>
          <a:xfrm>
            <a:off x="777240" y="4389120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1051560" y="42793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Self-Improvement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2834640" y="427939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capability enhancement and unauthorized research — a model trying to make itself smarter without permission.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realbench-pro  |  Based on research from Anthropic, Apollo Research, METR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Detect: 24 Signal Types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2560320" cy="1645920"/>
          </a:xfrm>
          <a:prstGeom prst="rect">
            <a:avLst>
              <a:gd name="adj" fmla="val 277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164592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143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Scheming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85800" y="1600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faking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deception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 planning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1005840"/>
            <a:ext cx="2560320" cy="1645920"/>
          </a:xfrm>
          <a:prstGeom prst="rect">
            <a:avLst>
              <a:gd name="adj" fmla="val 277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91840" y="1005840"/>
            <a:ext cx="54864" cy="164592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1887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31920" y="1143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Sabotage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520440" y="1600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sabotage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undermining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Sandbagging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126480" y="1005840"/>
            <a:ext cx="2560320" cy="1645920"/>
          </a:xfrm>
          <a:prstGeom prst="rect">
            <a:avLst>
              <a:gd name="adj" fmla="val 277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126480" y="1005840"/>
            <a:ext cx="54864" cy="164592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18872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66560" y="1143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355080" y="1600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Deceptive communication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Persuasion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2880360"/>
            <a:ext cx="2560320" cy="1645920"/>
          </a:xfrm>
          <a:prstGeom prst="rect">
            <a:avLst>
              <a:gd name="adj" fmla="val 277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57200" y="2880360"/>
            <a:ext cx="54864" cy="164592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06324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97280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685800" y="34747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Self-preservation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Self-replication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 resistance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291840" y="2880360"/>
            <a:ext cx="2560320" cy="1645920"/>
          </a:xfrm>
          <a:prstGeom prst="rect">
            <a:avLst>
              <a:gd name="adj" fmla="val 277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291840" y="2880360"/>
            <a:ext cx="54864" cy="16459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3063240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931920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Collusion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3520440" y="34747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coordination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 communication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deception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6126480" y="2880360"/>
            <a:ext cx="2560320" cy="1645920"/>
          </a:xfrm>
          <a:prstGeom prst="rect">
            <a:avLst>
              <a:gd name="adj" fmla="val 277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126480" y="2880360"/>
            <a:ext cx="54864" cy="164592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063240"/>
            <a:ext cx="320040" cy="32004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766560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Self-Improvement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6355080" y="34747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improvement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acquisition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research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realbench-pro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Detection Architecture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3931920" cy="3200400"/>
          </a:xfrm>
          <a:prstGeom prst="rect">
            <a:avLst>
              <a:gd name="adj" fmla="val 1429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Pattern-Based Detection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20116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 — zero API cost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signal types across 6 categories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Negation-aware matching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trace (CoT) analysis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detection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3931920" cy="3200400"/>
          </a:xfrm>
          <a:prstGeom prst="rect">
            <a:avLst>
              <a:gd name="adj" fmla="val 1429"/>
            </a:avLst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Ensemble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029200" y="20116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specialized LLM judges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voting with consensus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probing on disagreement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Cost-capped per evaluation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for deep analysis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realbench-pro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Safety Judges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2560320" cy="2286000"/>
          </a:xfrm>
          <a:prstGeom prst="rect">
            <a:avLst>
              <a:gd name="adj" fmla="val 2000"/>
            </a:avLst>
          </a:prstGeom>
          <a:solidFill>
            <a:srgbClr val="DC2626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3444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436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Deception Analyst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85800" y="22402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faking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Sandbagging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deception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291840" y="1005840"/>
            <a:ext cx="2560320" cy="2286000"/>
          </a:xfrm>
          <a:prstGeom prst="rect">
            <a:avLst>
              <a:gd name="adj" fmla="val 2000"/>
            </a:avLst>
          </a:prstGeom>
          <a:solidFill>
            <a:srgbClr val="D97706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23444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2900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Assessor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3520440" y="22402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Self-improvement attempts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acquisition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hiding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126480" y="1005840"/>
            <a:ext cx="2560320" cy="2286000"/>
          </a:xfrm>
          <a:prstGeom prst="rect">
            <a:avLst>
              <a:gd name="adj" fmla="val 2000"/>
            </a:avLst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234440"/>
            <a:ext cx="502920" cy="5029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6364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Collusion Detector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355080" y="22402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coordination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 communication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votes independently  →  Consensus flags threats  →  Probing resolves disagreements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realbench-pro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Performance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2560320" cy="1828800"/>
          </a:xfrm>
          <a:prstGeom prst="rect">
            <a:avLst>
              <a:gd name="adj" fmla="val 2500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143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flag something,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real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005840"/>
            <a:ext cx="2560320" cy="1828800"/>
          </a:xfrm>
          <a:prstGeom prst="rect">
            <a:avLst>
              <a:gd name="adj" fmla="val 2500"/>
            </a:avLst>
          </a:prstGeom>
          <a:solidFill>
            <a:srgbClr val="FFFBEB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91840" y="1143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329184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7472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across all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types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1005840"/>
            <a:ext cx="2560320" cy="1828800"/>
          </a:xfrm>
          <a:prstGeom prst="rect">
            <a:avLst>
              <a:gd name="adj" fmla="val 2500"/>
            </a:avLst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26480" y="1143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612648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0936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precision-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tradeoff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108960"/>
            <a:ext cx="2560320" cy="1097280"/>
          </a:xfrm>
          <a:prstGeom prst="rect">
            <a:avLst>
              <a:gd name="adj" fmla="val 41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57200" y="3154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57200" y="3566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37947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code rarely flagged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291840" y="3108960"/>
            <a:ext cx="2560320" cy="1097280"/>
          </a:xfrm>
          <a:prstGeom prst="rect">
            <a:avLst>
              <a:gd name="adj" fmla="val 41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291840" y="3154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3291840" y="3566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291840" y="37947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published AI safety research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126480" y="3108960"/>
            <a:ext cx="2560320" cy="1097280"/>
          </a:xfrm>
          <a:prstGeom prst="rect">
            <a:avLst>
              <a:gd name="adj" fmla="val 41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126480" y="3154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$0.21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6126480" y="3566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126480" y="37947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evaluations across 8 models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realbench-pro  |  46-case test suite derived from Anthropic, Apollo Research, METR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Contamination Detection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have seen the benchmark data in training will game evaluations.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RealBench Pro detects this automatically.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1691640"/>
            <a:ext cx="7680960" cy="777240"/>
          </a:xfrm>
          <a:prstGeom prst="rect">
            <a:avLst>
              <a:gd name="adj" fmla="val 5882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69164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Overlap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057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response text against known reference answers for suspicious verbatim overlap.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2606040"/>
            <a:ext cx="7680960" cy="777240"/>
          </a:xfrm>
          <a:prstGeom prst="rect">
            <a:avLst>
              <a:gd name="adj" fmla="val 5882"/>
            </a:avLst>
          </a:prstGeom>
          <a:solidFill>
            <a:srgbClr val="FFFBEB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606040"/>
            <a:ext cx="54864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2679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Analysis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29718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abnormally low perplexity — a sign the model has memorized the exact answer.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3520440"/>
            <a:ext cx="7680960" cy="777240"/>
          </a:xfrm>
          <a:prstGeom prst="rect">
            <a:avLst>
              <a:gd name="adj" fmla="val 5882"/>
            </a:avLst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31520" y="3520440"/>
            <a:ext cx="54864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3593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Recall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5840" y="38862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when model responses match training data with suspiciously high fidelity.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thresholds:   &lt; 0.3 Clean   |   0.3–0.5 Suspicious   |   0.5–0.7 Likely contaminated   |   &gt; 0.7 Exclude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realbench-pro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in 60 Seconds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914400"/>
            <a:ext cx="7680960" cy="2103120"/>
          </a:xfrm>
          <a:prstGeom prst="rect">
            <a:avLst>
              <a:gd name="adj" fmla="val 217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105156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https://github.com/ratnaditya/realbench-pro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realbench-pro/backend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OPENAI_API_KEY="sk-..."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ANTHROPIC_API_KEY="sk-ant-..."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-e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app.main    # API at localhost:8000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1520" y="3291840"/>
            <a:ext cx="2468880" cy="1097280"/>
          </a:xfrm>
          <a:prstGeom prst="rect">
            <a:avLst>
              <a:gd name="adj" fmla="val 41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747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325880" y="3703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474720" y="3291840"/>
            <a:ext cx="2468880" cy="1097280"/>
          </a:xfrm>
          <a:prstGeom prst="rect">
            <a:avLst>
              <a:gd name="adj" fmla="val 41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4747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6908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069080" y="3703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endpoints, all tested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217920" y="3291840"/>
            <a:ext cx="2468880" cy="1097280"/>
          </a:xfrm>
          <a:prstGeom prst="rect">
            <a:avLst>
              <a:gd name="adj" fmla="val 41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4747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1228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Signal Types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812280" y="3703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risk categories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github.com/ratnaditya/realbench-pro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82296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 are getting smarter.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914400" y="2606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 need to get smarter too.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github.com/ratnaditya/realbench-pro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the repo  •  Open an issue  •  Contribute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RealBench Pro  |  Open Source  |  MIT License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RealBench Pro — AI Safety Evaluation Platform</dc:title>
  <dc:subject>PptxGenJS Presentation</dc:subject>
  <dc:creator>RealBench Pro</dc:creator>
  <cp:lastModifiedBy>RealBench Pro</cp:lastModifiedBy>
  <cp:revision>1</cp:revision>
  <dcterms:created xsi:type="dcterms:W3CDTF">2026-02-08T17:32:55Z</dcterms:created>
  <dcterms:modified xsi:type="dcterms:W3CDTF">2026-02-08T17:32:55Z</dcterms:modified>
</cp:coreProperties>
</file>